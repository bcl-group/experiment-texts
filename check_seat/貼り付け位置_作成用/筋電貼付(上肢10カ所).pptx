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B6597D4-EAE2-4908-85CE-DA7419C0DC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2C376926-F43C-40CF-9B5A-7A9AA0303F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CDB2472-EC86-4E8C-A4BA-23B4303329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ED34F1-6682-46B9-BF5F-18ECE70CA324}" type="datetimeFigureOut">
              <a:rPr kumimoji="1" lang="ja-JP" altLang="en-US" smtClean="0"/>
              <a:t>2025/3/27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ADB3B76-DE4B-4E13-8BB5-E4DC41E542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F50C42E-3E89-42DE-BE5A-048442BC02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93EF10-57A9-4CA0-89D2-2DFE3DDEB96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759909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C4F4D26-921A-44A7-9DD6-081E94B7A8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AFC91CF-C2CC-40F8-9D42-084D0CD150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DC02584-B161-4D05-BE05-A26767ABBD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ED34F1-6682-46B9-BF5F-18ECE70CA324}" type="datetimeFigureOut">
              <a:rPr kumimoji="1" lang="ja-JP" altLang="en-US" smtClean="0"/>
              <a:t>2025/3/27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59C0988-2431-4918-8537-D6E9E5E064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B3A1439-72AC-45CF-A274-990A531F02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93EF10-57A9-4CA0-89D2-2DFE3DDEB96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091059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C503E76-6934-4D9D-A3E0-86A287D884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DDC88A8-9BB7-4BEE-9786-899D0D0804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0147C8C-9087-4E0F-B141-1A23A28C85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ED34F1-6682-46B9-BF5F-18ECE70CA324}" type="datetimeFigureOut">
              <a:rPr kumimoji="1" lang="ja-JP" altLang="en-US" smtClean="0"/>
              <a:t>2025/3/27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B859994-F36F-4ADA-944C-1F493468C8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092AF00-52E3-4D03-B617-5A5372D14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93EF10-57A9-4CA0-89D2-2DFE3DDEB96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307745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FE550A7-B8CE-4511-A6E6-17370E0F69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0CC5951-DA81-427F-8DF2-34A99C04313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1C4EC36C-172E-4866-AA5F-A1A5DD8A8C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7433D190-3F24-4716-9B6C-C2800F0B0B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ED34F1-6682-46B9-BF5F-18ECE70CA324}" type="datetimeFigureOut">
              <a:rPr kumimoji="1" lang="ja-JP" altLang="en-US" smtClean="0"/>
              <a:t>2025/3/27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E6A9899E-5B29-45C6-A683-C047175225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CEA3F6C-4B19-4BB4-8D96-C6D10CAEA3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93EF10-57A9-4CA0-89D2-2DFE3DDEB96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658082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F8F4366-F59E-4756-A77F-96CF415E62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6BDCC17F-E8F5-46B8-B345-67D5AE0FBC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18A873C9-7437-47FD-9030-8B2A708C9B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65E0A989-A592-40B4-AEDD-17C42A1594E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F29A588A-7FA2-4F15-A0C1-18C11A1445A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3C837241-3E4D-4878-811A-DC45A9D7D3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ED34F1-6682-46B9-BF5F-18ECE70CA324}" type="datetimeFigureOut">
              <a:rPr kumimoji="1" lang="ja-JP" altLang="en-US" smtClean="0"/>
              <a:t>2025/3/27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2C83137E-E9A7-4BBE-9448-11F129F8D9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E466A180-C17E-4805-99EC-8860F567A7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93EF10-57A9-4CA0-89D2-2DFE3DDEB96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315332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D0D8BD3-D579-4439-9E91-480947729E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3A7E5306-1340-4340-9C13-F8DB58A2AC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ED34F1-6682-46B9-BF5F-18ECE70CA324}" type="datetimeFigureOut">
              <a:rPr kumimoji="1" lang="ja-JP" altLang="en-US" smtClean="0"/>
              <a:t>2025/3/27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E47B3739-E3F1-4B76-AD99-23BD32198F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AF5B4741-150D-44EF-8068-E5AACB7ECA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93EF10-57A9-4CA0-89D2-2DFE3DDEB96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537893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758DFFDC-F9A3-4647-A597-8F2AE503AE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ED34F1-6682-46B9-BF5F-18ECE70CA324}" type="datetimeFigureOut">
              <a:rPr kumimoji="1" lang="ja-JP" altLang="en-US" smtClean="0"/>
              <a:t>2025/3/27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FE22C218-A1ED-451F-A193-8469664CCB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DBC3F2B-48A3-4A7A-8A0D-E33C87B391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93EF10-57A9-4CA0-89D2-2DFE3DDEB96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980547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D6DA543-B100-4948-B2D5-2F37396309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6E86DCE-233C-49AE-B890-7CD0F263A2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9F249EC-FE1A-4BAE-81DC-91936DA9A7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31FBE0C7-C30E-4954-A7BF-0FC3D20E6D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ED34F1-6682-46B9-BF5F-18ECE70CA324}" type="datetimeFigureOut">
              <a:rPr kumimoji="1" lang="ja-JP" altLang="en-US" smtClean="0"/>
              <a:t>2025/3/27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236A5957-F7C5-4A66-A224-CEF29D5136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D5CCCE28-2430-462E-B798-8AE37B08FC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93EF10-57A9-4CA0-89D2-2DFE3DDEB96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705574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15A9EFA-18BD-462A-8129-04B8B279ED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CE939E0D-E1BA-4B85-95CF-F3047BA369C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7F12D611-5925-4AE6-9342-D1C5011E01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B11F1F42-B121-4535-8F35-8BA2BCB8F2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ED34F1-6682-46B9-BF5F-18ECE70CA324}" type="datetimeFigureOut">
              <a:rPr kumimoji="1" lang="ja-JP" altLang="en-US" smtClean="0"/>
              <a:t>2025/3/27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22096B81-65AC-428B-875D-E56FF8F774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38F026F-816F-47BB-98FD-ADC2D73839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93EF10-57A9-4CA0-89D2-2DFE3DDEB96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407134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4504480-1784-42A1-91EF-8A074BDD43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EC5526AC-F636-42B8-B5D9-ABA9BC4DD6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7966BD9-D75D-43B5-BBF0-855366B292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ED34F1-6682-46B9-BF5F-18ECE70CA324}" type="datetimeFigureOut">
              <a:rPr kumimoji="1" lang="ja-JP" altLang="en-US" smtClean="0"/>
              <a:t>2025/3/27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8477A11-07B3-47FD-8FE8-747476170B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466FDB0-4968-4DFC-9366-9F4B5760B3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93EF10-57A9-4CA0-89D2-2DFE3DDEB96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613540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7887B5E6-F900-4673-90BF-5A14D9A4073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5D989746-E574-4281-B8A9-F8EC63612A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62B6617-7BF2-44BB-863C-9C9AACE9DE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ED34F1-6682-46B9-BF5F-18ECE70CA324}" type="datetimeFigureOut">
              <a:rPr kumimoji="1" lang="ja-JP" altLang="en-US" smtClean="0"/>
              <a:t>2025/3/27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7D0B168-C811-48FA-82D4-C0E2978F15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C203829-206E-4C72-A4E0-7E4C140316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93EF10-57A9-4CA0-89D2-2DFE3DDEB96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502330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63FD7C42-2939-4769-9F0F-A7D482E073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5B5CD132-DB52-4E67-8555-34BBB36669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3B66245-3615-4024-A373-4ED43D4D5E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ED34F1-6682-46B9-BF5F-18ECE70CA324}" type="datetimeFigureOut">
              <a:rPr kumimoji="1" lang="ja-JP" altLang="en-US" smtClean="0"/>
              <a:t>2025/3/27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CC3BE87-AA8B-407D-B1C3-D56E8BBCD7D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A47DA4D-859A-455D-9792-E8C2F2EF24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93EF10-57A9-4CA0-89D2-2DFE3DDEB96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112948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テキスト ボックス 2">
            <a:extLst>
              <a:ext uri="{FF2B5EF4-FFF2-40B4-BE49-F238E27FC236}">
                <a16:creationId xmlns:a16="http://schemas.microsoft.com/office/drawing/2014/main" id="{073B256A-8DA7-4C71-BBE0-250080F088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39570" y="949989"/>
            <a:ext cx="2381250" cy="5575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spAutoFit/>
          </a:bodyPr>
          <a:lstStyle/>
          <a:p>
            <a:pPr algn="just">
              <a:spcAft>
                <a:spcPts val="0"/>
              </a:spcAft>
            </a:pPr>
            <a:r>
              <a:rPr lang="ja-JP" sz="1600" kern="100" dirty="0">
                <a:effectLst/>
                <a:latin typeface="Century" panose="02040604050505020304" pitchFamily="18" charset="0"/>
                <a:ea typeface="HG丸ｺﾞｼｯｸM-PRO" panose="020F0600000000000000" pitchFamily="50" charset="-128"/>
                <a:cs typeface="Times New Roman" panose="02020603050405020304" pitchFamily="18" charset="0"/>
              </a:rPr>
              <a:t>筋電位センサ装着位置</a:t>
            </a:r>
            <a:endParaRPr lang="ja-JP" sz="1050" kern="100" dirty="0">
              <a:effectLst/>
              <a:latin typeface="Century" panose="02040604050505020304" pitchFamily="18" charset="0"/>
              <a:ea typeface="ＭＳ 明朝" panose="02020609040205080304" pitchFamily="17" charset="-128"/>
              <a:cs typeface="Times New Roman" panose="02020603050405020304" pitchFamily="18" charset="0"/>
            </a:endParaRPr>
          </a:p>
        </p:txBody>
      </p:sp>
      <p:grpSp>
        <p:nvGrpSpPr>
          <p:cNvPr id="157" name="グループ化 156">
            <a:extLst>
              <a:ext uri="{FF2B5EF4-FFF2-40B4-BE49-F238E27FC236}">
                <a16:creationId xmlns:a16="http://schemas.microsoft.com/office/drawing/2014/main" id="{82422D8F-4372-48DD-86C9-43469537E1B3}"/>
              </a:ext>
            </a:extLst>
          </p:cNvPr>
          <p:cNvGrpSpPr/>
          <p:nvPr/>
        </p:nvGrpSpPr>
        <p:grpSpPr>
          <a:xfrm>
            <a:off x="7427667" y="336774"/>
            <a:ext cx="3314700" cy="328930"/>
            <a:chOff x="7427667" y="336774"/>
            <a:chExt cx="3314700" cy="328930"/>
          </a:xfrm>
        </p:grpSpPr>
        <p:sp>
          <p:nvSpPr>
            <p:cNvPr id="160" name="テキスト ボックス 2">
              <a:extLst>
                <a:ext uri="{FF2B5EF4-FFF2-40B4-BE49-F238E27FC236}">
                  <a16:creationId xmlns:a16="http://schemas.microsoft.com/office/drawing/2014/main" id="{6765FEF8-B1F2-4D41-8A6C-86747654A90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427667" y="336774"/>
              <a:ext cx="1162050" cy="3289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>
              <a:spAutoFit/>
            </a:bodyPr>
            <a:lstStyle/>
            <a:p>
              <a:pPr algn="just">
                <a:spcAft>
                  <a:spcPts val="0"/>
                </a:spcAft>
              </a:pPr>
              <a:r>
                <a:rPr lang="ja-JP" sz="1200" kern="100">
                  <a:effectLst/>
                  <a:latin typeface="Century" panose="02040604050505020304" pitchFamily="18" charset="0"/>
                  <a:ea typeface="HG丸ｺﾞｼｯｸM-PRO" panose="020F0600000000000000" pitchFamily="50" charset="-128"/>
                  <a:cs typeface="Times New Roman" panose="02020603050405020304" pitchFamily="18" charset="0"/>
                </a:rPr>
                <a:t>被験者コード</a:t>
              </a:r>
              <a:endParaRPr lang="ja-JP" sz="1050" kern="100">
                <a:effectLst/>
                <a:latin typeface="Century" panose="02040604050505020304" pitchFamily="18" charset="0"/>
                <a:ea typeface="ＭＳ 明朝" panose="02020609040205080304" pitchFamily="17" charset="-128"/>
                <a:cs typeface="Times New Roman" panose="02020603050405020304" pitchFamily="18" charset="0"/>
              </a:endParaRPr>
            </a:p>
          </p:txBody>
        </p:sp>
        <p:cxnSp>
          <p:nvCxnSpPr>
            <p:cNvPr id="161" name="直線コネクタ 160">
              <a:extLst>
                <a:ext uri="{FF2B5EF4-FFF2-40B4-BE49-F238E27FC236}">
                  <a16:creationId xmlns:a16="http://schemas.microsoft.com/office/drawing/2014/main" id="{FCB80933-AC9E-4B4B-BC55-A066103461A5}"/>
                </a:ext>
              </a:extLst>
            </p:cNvPr>
            <p:cNvCxnSpPr/>
            <p:nvPr/>
          </p:nvCxnSpPr>
          <p:spPr>
            <a:xfrm>
              <a:off x="8589717" y="593949"/>
              <a:ext cx="2152650" cy="0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8" name="グループ化 157">
            <a:extLst>
              <a:ext uri="{FF2B5EF4-FFF2-40B4-BE49-F238E27FC236}">
                <a16:creationId xmlns:a16="http://schemas.microsoft.com/office/drawing/2014/main" id="{91827201-F514-4D24-BD63-3765B7006977}"/>
              </a:ext>
            </a:extLst>
          </p:cNvPr>
          <p:cNvGrpSpPr/>
          <p:nvPr/>
        </p:nvGrpSpPr>
        <p:grpSpPr>
          <a:xfrm>
            <a:off x="7437772" y="900459"/>
            <a:ext cx="2685415" cy="409575"/>
            <a:chOff x="4753292" y="3224212"/>
            <a:chExt cx="2685415" cy="409575"/>
          </a:xfrm>
        </p:grpSpPr>
        <p:sp>
          <p:nvSpPr>
            <p:cNvPr id="163" name="テキスト ボックス 2">
              <a:extLst>
                <a:ext uri="{FF2B5EF4-FFF2-40B4-BE49-F238E27FC236}">
                  <a16:creationId xmlns:a16="http://schemas.microsoft.com/office/drawing/2014/main" id="{7F80B16C-8D01-45CF-A8DE-126FB8578B8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53292" y="3224212"/>
              <a:ext cx="1638300" cy="3289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>
              <a:spAutoFit/>
            </a:bodyPr>
            <a:lstStyle/>
            <a:p>
              <a:pPr algn="just">
                <a:spcAft>
                  <a:spcPts val="0"/>
                </a:spcAft>
              </a:pPr>
              <a:r>
                <a:rPr lang="ja-JP" sz="1100" kern="100">
                  <a:effectLst/>
                  <a:latin typeface="Century" panose="02040604050505020304" pitchFamily="18" charset="0"/>
                  <a:ea typeface="HG丸ｺﾞｼｯｸM-PRO" panose="020F0600000000000000" pitchFamily="50" charset="-128"/>
                  <a:cs typeface="Times New Roman" panose="02020603050405020304" pitchFamily="18" charset="0"/>
                </a:rPr>
                <a:t>サンプリングレート</a:t>
              </a:r>
              <a:endParaRPr lang="ja-JP" sz="1050" kern="100">
                <a:effectLst/>
                <a:latin typeface="Century" panose="02040604050505020304" pitchFamily="18" charset="0"/>
                <a:ea typeface="ＭＳ 明朝" panose="02020609040205080304" pitchFamily="17" charset="-128"/>
                <a:cs typeface="Times New Roman" panose="02020603050405020304" pitchFamily="18" charset="0"/>
              </a:endParaRPr>
            </a:p>
          </p:txBody>
        </p:sp>
        <p:cxnSp>
          <p:nvCxnSpPr>
            <p:cNvPr id="164" name="直線コネクタ 163">
              <a:extLst>
                <a:ext uri="{FF2B5EF4-FFF2-40B4-BE49-F238E27FC236}">
                  <a16:creationId xmlns:a16="http://schemas.microsoft.com/office/drawing/2014/main" id="{A5607E12-E08E-4B93-8C69-42C3EB51977F}"/>
                </a:ext>
              </a:extLst>
            </p:cNvPr>
            <p:cNvCxnSpPr/>
            <p:nvPr/>
          </p:nvCxnSpPr>
          <p:spPr>
            <a:xfrm>
              <a:off x="6220142" y="3552507"/>
              <a:ext cx="789940" cy="0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5" name="テキスト ボックス 2">
              <a:extLst>
                <a:ext uri="{FF2B5EF4-FFF2-40B4-BE49-F238E27FC236}">
                  <a16:creationId xmlns:a16="http://schemas.microsoft.com/office/drawing/2014/main" id="{ABEA4F40-A660-4A28-9AE8-E0B6F5E3057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991032" y="3304857"/>
              <a:ext cx="447675" cy="3289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>
              <a:spAutoFit/>
            </a:bodyPr>
            <a:lstStyle/>
            <a:p>
              <a:pPr algn="just">
                <a:spcAft>
                  <a:spcPts val="0"/>
                </a:spcAft>
              </a:pPr>
              <a:r>
                <a:rPr lang="en-US" sz="1100" kern="100">
                  <a:effectLst/>
                  <a:latin typeface="Arial" panose="020B0604020202020204" pitchFamily="34" charset="0"/>
                  <a:ea typeface="HG丸ｺﾞｼｯｸM-PRO" panose="020F0600000000000000" pitchFamily="50" charset="-128"/>
                  <a:cs typeface="Times New Roman" panose="02020603050405020304" pitchFamily="18" charset="0"/>
                </a:rPr>
                <a:t>Hz</a:t>
              </a:r>
              <a:endParaRPr lang="ja-JP" sz="1050" kern="100">
                <a:effectLst/>
                <a:latin typeface="Century" panose="02040604050505020304" pitchFamily="18" charset="0"/>
                <a:ea typeface="ＭＳ 明朝" panose="02020609040205080304" pitchFamily="17" charset="-128"/>
                <a:cs typeface="Times New Roman" panose="02020603050405020304" pitchFamily="18" charset="0"/>
              </a:endParaRPr>
            </a:p>
          </p:txBody>
        </p:sp>
      </p:grpSp>
      <p:pic>
        <p:nvPicPr>
          <p:cNvPr id="65" name="図 64" descr="無料イラスト素材倉庫/人体図のイラスト・jpg,png,wmf,emf,epsファイル">
            <a:extLst>
              <a:ext uri="{FF2B5EF4-FFF2-40B4-BE49-F238E27FC236}">
                <a16:creationId xmlns:a16="http://schemas.microsoft.com/office/drawing/2014/main" id="{1DFE91BC-FBA2-4D89-9A69-A94387E36471}"/>
              </a:ext>
            </a:extLst>
          </p:cNvPr>
          <p:cNvPicPr/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1080" b="39453"/>
          <a:stretch/>
        </p:blipFill>
        <p:spPr bwMode="auto">
          <a:xfrm>
            <a:off x="3456428" y="2285365"/>
            <a:ext cx="5029540" cy="3332002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66" name="角丸四角形 335">
            <a:extLst>
              <a:ext uri="{FF2B5EF4-FFF2-40B4-BE49-F238E27FC236}">
                <a16:creationId xmlns:a16="http://schemas.microsoft.com/office/drawing/2014/main" id="{A1FD5EE2-C36E-426C-943F-BF9304D90CE0}"/>
              </a:ext>
            </a:extLst>
          </p:cNvPr>
          <p:cNvSpPr/>
          <p:nvPr/>
        </p:nvSpPr>
        <p:spPr>
          <a:xfrm rot="20492756">
            <a:off x="7825045" y="3236325"/>
            <a:ext cx="71755" cy="143510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ja-JP" altLang="en-US"/>
          </a:p>
        </p:txBody>
      </p:sp>
      <p:sp>
        <p:nvSpPr>
          <p:cNvPr id="67" name="角丸四角形 298">
            <a:extLst>
              <a:ext uri="{FF2B5EF4-FFF2-40B4-BE49-F238E27FC236}">
                <a16:creationId xmlns:a16="http://schemas.microsoft.com/office/drawing/2014/main" id="{74742E3D-154D-4FB9-9076-BE252DDA167E}"/>
              </a:ext>
            </a:extLst>
          </p:cNvPr>
          <p:cNvSpPr/>
          <p:nvPr/>
        </p:nvSpPr>
        <p:spPr>
          <a:xfrm rot="20873116" flipH="1">
            <a:off x="7803321" y="3756291"/>
            <a:ext cx="71755" cy="143510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ja-JP" altLang="en-US"/>
          </a:p>
        </p:txBody>
      </p:sp>
      <p:sp>
        <p:nvSpPr>
          <p:cNvPr id="68" name="角丸四角形 298">
            <a:extLst>
              <a:ext uri="{FF2B5EF4-FFF2-40B4-BE49-F238E27FC236}">
                <a16:creationId xmlns:a16="http://schemas.microsoft.com/office/drawing/2014/main" id="{0552F631-2F9F-428D-8497-20E7ABC2345E}"/>
              </a:ext>
            </a:extLst>
          </p:cNvPr>
          <p:cNvSpPr/>
          <p:nvPr/>
        </p:nvSpPr>
        <p:spPr>
          <a:xfrm flipH="1">
            <a:off x="7273294" y="4392567"/>
            <a:ext cx="71755" cy="143510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ja-JP" altLang="en-US"/>
          </a:p>
        </p:txBody>
      </p:sp>
      <p:sp>
        <p:nvSpPr>
          <p:cNvPr id="69" name="テキスト ボックス 2">
            <a:extLst>
              <a:ext uri="{FF2B5EF4-FFF2-40B4-BE49-F238E27FC236}">
                <a16:creationId xmlns:a16="http://schemas.microsoft.com/office/drawing/2014/main" id="{7FD803F2-6934-4D58-B741-FB77E13448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84220" y="2907784"/>
            <a:ext cx="1366494" cy="294122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noAutofit/>
          </a:bodyPr>
          <a:lstStyle/>
          <a:p>
            <a:pPr marL="342900" lvl="0" indent="-342900" algn="just">
              <a:spcAft>
                <a:spcPts val="0"/>
              </a:spcAft>
              <a:buFont typeface="HG丸ｺﾞｼｯｸM-PRO" panose="020F0600000000000000" pitchFamily="50" charset="-128"/>
              <a:buChar char="□"/>
            </a:pPr>
            <a:r>
              <a:rPr lang="ja-JP" sz="1050" b="1" kern="100" dirty="0">
                <a:effectLst/>
                <a:latin typeface="Century" panose="02040604050505020304" pitchFamily="18" charset="0"/>
                <a:ea typeface="HG丸ｺﾞｼｯｸM-PRO" panose="020F0600000000000000" pitchFamily="50" charset="-128"/>
                <a:cs typeface="Times New Roman" panose="02020603050405020304" pitchFamily="18" charset="0"/>
              </a:rPr>
              <a:t>三角筋</a:t>
            </a:r>
            <a:r>
              <a:rPr lang="ja-JP" altLang="en-US" sz="1050" b="1" kern="100" dirty="0">
                <a:effectLst/>
                <a:latin typeface="Century" panose="02040604050505020304" pitchFamily="18" charset="0"/>
                <a:ea typeface="HG丸ｺﾞｼｯｸM-PRO" panose="020F0600000000000000" pitchFamily="50" charset="-128"/>
                <a:cs typeface="Times New Roman" panose="02020603050405020304" pitchFamily="18" charset="0"/>
              </a:rPr>
              <a:t>中</a:t>
            </a:r>
            <a:r>
              <a:rPr lang="ja-JP" sz="1050" b="1" kern="100" dirty="0">
                <a:effectLst/>
                <a:latin typeface="Century" panose="02040604050505020304" pitchFamily="18" charset="0"/>
                <a:ea typeface="HG丸ｺﾞｼｯｸM-PRO" panose="020F0600000000000000" pitchFamily="50" charset="-128"/>
                <a:cs typeface="Times New Roman" panose="02020603050405020304" pitchFamily="18" charset="0"/>
              </a:rPr>
              <a:t>部</a:t>
            </a:r>
            <a:endParaRPr lang="ja-JP" sz="1050" kern="100" dirty="0">
              <a:effectLst/>
              <a:latin typeface="Century" panose="02040604050505020304" pitchFamily="18" charset="0"/>
              <a:ea typeface="ＭＳ 明朝" panose="02020609040205080304" pitchFamily="17" charset="-128"/>
              <a:cs typeface="Times New Roman" panose="02020603050405020304" pitchFamily="18" charset="0"/>
            </a:endParaRPr>
          </a:p>
        </p:txBody>
      </p:sp>
      <p:sp>
        <p:nvSpPr>
          <p:cNvPr id="70" name="テキスト ボックス 2">
            <a:extLst>
              <a:ext uri="{FF2B5EF4-FFF2-40B4-BE49-F238E27FC236}">
                <a16:creationId xmlns:a16="http://schemas.microsoft.com/office/drawing/2014/main" id="{5D41EB43-EA8D-4418-A96A-42D36288CD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12951" y="3663711"/>
            <a:ext cx="1275080" cy="287655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noAutofit/>
          </a:bodyPr>
          <a:lstStyle/>
          <a:p>
            <a:pPr marL="342900" lvl="0" indent="-342900" algn="just">
              <a:spcAft>
                <a:spcPts val="0"/>
              </a:spcAft>
              <a:buFont typeface="HG丸ｺﾞｼｯｸM-PRO" panose="020F0600000000000000" pitchFamily="50" charset="-128"/>
              <a:buChar char="□"/>
            </a:pPr>
            <a:r>
              <a:rPr lang="ja-JP" sz="1050" b="1" kern="100" dirty="0">
                <a:effectLst/>
                <a:latin typeface="Century" panose="02040604050505020304" pitchFamily="18" charset="0"/>
                <a:ea typeface="HG丸ｺﾞｼｯｸM-PRO" panose="020F0600000000000000" pitchFamily="50" charset="-128"/>
                <a:cs typeface="Times New Roman" panose="02020603050405020304" pitchFamily="18" charset="0"/>
              </a:rPr>
              <a:t>上腕三頭筋</a:t>
            </a:r>
            <a:endParaRPr lang="ja-JP" sz="1050" kern="100" dirty="0">
              <a:effectLst/>
              <a:latin typeface="Century" panose="02040604050505020304" pitchFamily="18" charset="0"/>
              <a:ea typeface="ＭＳ 明朝" panose="02020609040205080304" pitchFamily="17" charset="-128"/>
              <a:cs typeface="Times New Roman" panose="02020603050405020304" pitchFamily="18" charset="0"/>
            </a:endParaRPr>
          </a:p>
        </p:txBody>
      </p:sp>
      <p:sp>
        <p:nvSpPr>
          <p:cNvPr id="71" name="テキスト ボックス 2">
            <a:extLst>
              <a:ext uri="{FF2B5EF4-FFF2-40B4-BE49-F238E27FC236}">
                <a16:creationId xmlns:a16="http://schemas.microsoft.com/office/drawing/2014/main" id="{7DE16991-B3B4-462F-9D35-FC09E1FE9B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98066" y="4392249"/>
            <a:ext cx="1276350" cy="287655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noAutofit/>
          </a:bodyPr>
          <a:lstStyle/>
          <a:p>
            <a:pPr marL="342900" lvl="0" indent="-342900" algn="just">
              <a:spcAft>
                <a:spcPts val="0"/>
              </a:spcAft>
              <a:buFont typeface="HG丸ｺﾞｼｯｸM-PRO" panose="020F0600000000000000" pitchFamily="50" charset="-128"/>
              <a:buChar char="□"/>
            </a:pPr>
            <a:r>
              <a:rPr lang="ja-JP" sz="1050" b="1" kern="100">
                <a:effectLst/>
                <a:latin typeface="Century" panose="02040604050505020304" pitchFamily="18" charset="0"/>
                <a:ea typeface="HG丸ｺﾞｼｯｸM-PRO" panose="020F0600000000000000" pitchFamily="50" charset="-128"/>
                <a:cs typeface="Times New Roman" panose="02020603050405020304" pitchFamily="18" charset="0"/>
              </a:rPr>
              <a:t>脊柱起立筋</a:t>
            </a:r>
            <a:endParaRPr lang="ja-JP" sz="1050" kern="100">
              <a:effectLst/>
              <a:latin typeface="Century" panose="02040604050505020304" pitchFamily="18" charset="0"/>
              <a:ea typeface="ＭＳ 明朝" panose="02020609040205080304" pitchFamily="17" charset="-128"/>
              <a:cs typeface="Times New Roman" panose="02020603050405020304" pitchFamily="18" charset="0"/>
            </a:endParaRPr>
          </a:p>
        </p:txBody>
      </p:sp>
      <p:cxnSp>
        <p:nvCxnSpPr>
          <p:cNvPr id="72" name="直線コネクタ 71">
            <a:extLst>
              <a:ext uri="{FF2B5EF4-FFF2-40B4-BE49-F238E27FC236}">
                <a16:creationId xmlns:a16="http://schemas.microsoft.com/office/drawing/2014/main" id="{45C8645C-D47D-4A1F-A293-0F23D9F8867D}"/>
              </a:ext>
            </a:extLst>
          </p:cNvPr>
          <p:cNvCxnSpPr>
            <a:cxnSpLocks/>
          </p:cNvCxnSpPr>
          <p:nvPr/>
        </p:nvCxnSpPr>
        <p:spPr>
          <a:xfrm flipH="1">
            <a:off x="7889337" y="3098428"/>
            <a:ext cx="192938" cy="18468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直線コネクタ 72">
            <a:extLst>
              <a:ext uri="{FF2B5EF4-FFF2-40B4-BE49-F238E27FC236}">
                <a16:creationId xmlns:a16="http://schemas.microsoft.com/office/drawing/2014/main" id="{46F1D4C4-D4AE-4329-B742-5C459964C44E}"/>
              </a:ext>
            </a:extLst>
          </p:cNvPr>
          <p:cNvCxnSpPr/>
          <p:nvPr/>
        </p:nvCxnSpPr>
        <p:spPr>
          <a:xfrm flipH="1">
            <a:off x="7863545" y="3811402"/>
            <a:ext cx="323850" cy="698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直線コネクタ 73">
            <a:extLst>
              <a:ext uri="{FF2B5EF4-FFF2-40B4-BE49-F238E27FC236}">
                <a16:creationId xmlns:a16="http://schemas.microsoft.com/office/drawing/2014/main" id="{D0E5C10B-2E20-454F-92D5-FAAB42C54A60}"/>
              </a:ext>
            </a:extLst>
          </p:cNvPr>
          <p:cNvCxnSpPr>
            <a:cxnSpLocks/>
          </p:cNvCxnSpPr>
          <p:nvPr/>
        </p:nvCxnSpPr>
        <p:spPr>
          <a:xfrm flipH="1" flipV="1">
            <a:off x="7342253" y="4462225"/>
            <a:ext cx="335827" cy="3588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角丸四角形 335">
            <a:extLst>
              <a:ext uri="{FF2B5EF4-FFF2-40B4-BE49-F238E27FC236}">
                <a16:creationId xmlns:a16="http://schemas.microsoft.com/office/drawing/2014/main" id="{DB14334C-76EC-4242-8600-1765CA87710D}"/>
              </a:ext>
            </a:extLst>
          </p:cNvPr>
          <p:cNvSpPr/>
          <p:nvPr/>
        </p:nvSpPr>
        <p:spPr>
          <a:xfrm rot="12224478">
            <a:off x="4051675" y="3268038"/>
            <a:ext cx="71755" cy="143510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ja-JP" altLang="en-US"/>
          </a:p>
        </p:txBody>
      </p:sp>
      <p:sp>
        <p:nvSpPr>
          <p:cNvPr id="76" name="角丸四角形 298">
            <a:extLst>
              <a:ext uri="{FF2B5EF4-FFF2-40B4-BE49-F238E27FC236}">
                <a16:creationId xmlns:a16="http://schemas.microsoft.com/office/drawing/2014/main" id="{00ABC006-0274-492F-889B-011CADE54EAE}"/>
              </a:ext>
            </a:extLst>
          </p:cNvPr>
          <p:cNvSpPr/>
          <p:nvPr/>
        </p:nvSpPr>
        <p:spPr>
          <a:xfrm rot="620247" flipH="1">
            <a:off x="4003504" y="3613189"/>
            <a:ext cx="71755" cy="143510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ja-JP" altLang="en-US"/>
          </a:p>
        </p:txBody>
      </p:sp>
      <p:sp>
        <p:nvSpPr>
          <p:cNvPr id="77" name="角丸四角形 298">
            <a:extLst>
              <a:ext uri="{FF2B5EF4-FFF2-40B4-BE49-F238E27FC236}">
                <a16:creationId xmlns:a16="http://schemas.microsoft.com/office/drawing/2014/main" id="{FEDB2807-8E10-4033-A7B0-786474989AE7}"/>
              </a:ext>
            </a:extLst>
          </p:cNvPr>
          <p:cNvSpPr/>
          <p:nvPr/>
        </p:nvSpPr>
        <p:spPr>
          <a:xfrm rot="620247" flipH="1">
            <a:off x="3791181" y="4349323"/>
            <a:ext cx="71755" cy="143510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ja-JP" altLang="en-US"/>
          </a:p>
        </p:txBody>
      </p:sp>
      <p:sp>
        <p:nvSpPr>
          <p:cNvPr id="79" name="角丸四角形 298">
            <a:extLst>
              <a:ext uri="{FF2B5EF4-FFF2-40B4-BE49-F238E27FC236}">
                <a16:creationId xmlns:a16="http://schemas.microsoft.com/office/drawing/2014/main" id="{1B92AE38-82E5-4B94-A29C-345CDE3931C0}"/>
              </a:ext>
            </a:extLst>
          </p:cNvPr>
          <p:cNvSpPr/>
          <p:nvPr/>
        </p:nvSpPr>
        <p:spPr>
          <a:xfrm flipH="1">
            <a:off x="4503680" y="4531865"/>
            <a:ext cx="71755" cy="143510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ja-JP" altLang="en-US"/>
          </a:p>
        </p:txBody>
      </p:sp>
      <p:sp>
        <p:nvSpPr>
          <p:cNvPr id="80" name="角丸四角形 335">
            <a:extLst>
              <a:ext uri="{FF2B5EF4-FFF2-40B4-BE49-F238E27FC236}">
                <a16:creationId xmlns:a16="http://schemas.microsoft.com/office/drawing/2014/main" id="{392EACB6-18CB-40F6-8658-3BAF7C3B454B}"/>
              </a:ext>
            </a:extLst>
          </p:cNvPr>
          <p:cNvSpPr/>
          <p:nvPr/>
        </p:nvSpPr>
        <p:spPr>
          <a:xfrm rot="20492756">
            <a:off x="7759331" y="3380336"/>
            <a:ext cx="71755" cy="143510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ja-JP" altLang="en-US"/>
          </a:p>
        </p:txBody>
      </p:sp>
      <p:sp>
        <p:nvSpPr>
          <p:cNvPr id="81" name="テキスト ボックス 2">
            <a:extLst>
              <a:ext uri="{FF2B5EF4-FFF2-40B4-BE49-F238E27FC236}">
                <a16:creationId xmlns:a16="http://schemas.microsoft.com/office/drawing/2014/main" id="{B4173179-3202-4CEE-889D-BFA30D78F6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21537" y="3281595"/>
            <a:ext cx="1366494" cy="294122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noAutofit/>
          </a:bodyPr>
          <a:lstStyle/>
          <a:p>
            <a:pPr marL="342900" lvl="0" indent="-342900" algn="just">
              <a:spcAft>
                <a:spcPts val="0"/>
              </a:spcAft>
              <a:buFont typeface="HG丸ｺﾞｼｯｸM-PRO" panose="020F0600000000000000" pitchFamily="50" charset="-128"/>
              <a:buChar char="□"/>
            </a:pPr>
            <a:r>
              <a:rPr lang="ja-JP" sz="1050" b="1" kern="100" dirty="0">
                <a:effectLst/>
                <a:latin typeface="Century" panose="02040604050505020304" pitchFamily="18" charset="0"/>
                <a:ea typeface="HG丸ｺﾞｼｯｸM-PRO" panose="020F0600000000000000" pitchFamily="50" charset="-128"/>
                <a:cs typeface="Times New Roman" panose="02020603050405020304" pitchFamily="18" charset="0"/>
              </a:rPr>
              <a:t>三角筋</a:t>
            </a:r>
            <a:r>
              <a:rPr lang="ja-JP" altLang="en-US" sz="1050" b="1" kern="100" dirty="0">
                <a:effectLst/>
                <a:latin typeface="Century" panose="02040604050505020304" pitchFamily="18" charset="0"/>
                <a:ea typeface="HG丸ｺﾞｼｯｸM-PRO" panose="020F0600000000000000" pitchFamily="50" charset="-128"/>
                <a:cs typeface="Times New Roman" panose="02020603050405020304" pitchFamily="18" charset="0"/>
              </a:rPr>
              <a:t>後部</a:t>
            </a:r>
            <a:endParaRPr lang="ja-JP" sz="1050" kern="100" dirty="0">
              <a:effectLst/>
              <a:latin typeface="Century" panose="02040604050505020304" pitchFamily="18" charset="0"/>
              <a:ea typeface="ＭＳ 明朝" panose="02020609040205080304" pitchFamily="17" charset="-128"/>
              <a:cs typeface="Times New Roman" panose="02020603050405020304" pitchFamily="18" charset="0"/>
            </a:endParaRPr>
          </a:p>
        </p:txBody>
      </p:sp>
      <p:cxnSp>
        <p:nvCxnSpPr>
          <p:cNvPr id="83" name="直線コネクタ 82">
            <a:extLst>
              <a:ext uri="{FF2B5EF4-FFF2-40B4-BE49-F238E27FC236}">
                <a16:creationId xmlns:a16="http://schemas.microsoft.com/office/drawing/2014/main" id="{EA4D36FF-196B-43D2-A476-6632D47C06E2}"/>
              </a:ext>
            </a:extLst>
          </p:cNvPr>
          <p:cNvCxnSpPr/>
          <p:nvPr/>
        </p:nvCxnSpPr>
        <p:spPr>
          <a:xfrm flipH="1">
            <a:off x="7789060" y="3448598"/>
            <a:ext cx="323850" cy="698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角丸四角形 335">
            <a:extLst>
              <a:ext uri="{FF2B5EF4-FFF2-40B4-BE49-F238E27FC236}">
                <a16:creationId xmlns:a16="http://schemas.microsoft.com/office/drawing/2014/main" id="{759DDEE4-6E2A-46AE-8C6A-136FF8F95AC1}"/>
              </a:ext>
            </a:extLst>
          </p:cNvPr>
          <p:cNvSpPr/>
          <p:nvPr/>
        </p:nvSpPr>
        <p:spPr>
          <a:xfrm rot="20492756">
            <a:off x="7391613" y="4019298"/>
            <a:ext cx="71755" cy="143510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ja-JP" altLang="en-US"/>
          </a:p>
        </p:txBody>
      </p:sp>
      <p:sp>
        <p:nvSpPr>
          <p:cNvPr id="85" name="テキスト ボックス 2">
            <a:extLst>
              <a:ext uri="{FF2B5EF4-FFF2-40B4-BE49-F238E27FC236}">
                <a16:creationId xmlns:a16="http://schemas.microsoft.com/office/drawing/2014/main" id="{5254B45C-4510-4DF1-93BF-44CDC6C120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38462" y="4005388"/>
            <a:ext cx="944144" cy="287655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noAutofit/>
          </a:bodyPr>
          <a:lstStyle/>
          <a:p>
            <a:pPr algn="just"/>
            <a:r>
              <a:rPr lang="ja-JP" altLang="en-US" sz="1050" kern="100" dirty="0">
                <a:latin typeface="Century" panose="02040604050505020304" pitchFamily="18" charset="0"/>
                <a:ea typeface="HG丸ｺﾞｼｯｸM-PRO" panose="020F0600000000000000" pitchFamily="50" charset="-128"/>
                <a:cs typeface="Times New Roman" panose="02020603050405020304" pitchFamily="18" charset="0"/>
              </a:rPr>
              <a:t>□</a:t>
            </a:r>
            <a:r>
              <a:rPr lang="ja-JP" altLang="en-US" sz="1050" b="1" kern="100" dirty="0">
                <a:latin typeface="Century" panose="02040604050505020304" pitchFamily="18" charset="0"/>
                <a:ea typeface="HG丸ｺﾞｼｯｸM-PRO" panose="020F0600000000000000" pitchFamily="50" charset="-128"/>
                <a:cs typeface="Times New Roman" panose="02020603050405020304" pitchFamily="18" charset="0"/>
              </a:rPr>
              <a:t>　</a:t>
            </a:r>
            <a:r>
              <a:rPr lang="ja-JP" altLang="en-US" sz="1050" b="1" kern="100" dirty="0">
                <a:latin typeface="HG丸ｺﾞｼｯｸM-PRO" panose="020F0600000000000000" pitchFamily="50" charset="-128"/>
                <a:ea typeface="HG丸ｺﾞｼｯｸM-PRO" panose="020F0600000000000000" pitchFamily="50" charset="-128"/>
                <a:cs typeface="Times New Roman" panose="02020603050405020304" pitchFamily="18" charset="0"/>
              </a:rPr>
              <a:t>広背筋</a:t>
            </a:r>
            <a:endParaRPr lang="ja-JP" altLang="ja-JP" sz="1050" kern="100" dirty="0">
              <a:latin typeface="HG丸ｺﾞｼｯｸM-PRO" panose="020F0600000000000000" pitchFamily="50" charset="-128"/>
              <a:ea typeface="HG丸ｺﾞｼｯｸM-PRO" panose="020F0600000000000000" pitchFamily="50" charset="-128"/>
              <a:cs typeface="Times New Roman" panose="02020603050405020304" pitchFamily="18" charset="0"/>
            </a:endParaRPr>
          </a:p>
        </p:txBody>
      </p:sp>
      <p:cxnSp>
        <p:nvCxnSpPr>
          <p:cNvPr id="87" name="直線コネクタ 86">
            <a:extLst>
              <a:ext uri="{FF2B5EF4-FFF2-40B4-BE49-F238E27FC236}">
                <a16:creationId xmlns:a16="http://schemas.microsoft.com/office/drawing/2014/main" id="{62336796-24AF-4D7C-9273-3136E799272C}"/>
              </a:ext>
            </a:extLst>
          </p:cNvPr>
          <p:cNvCxnSpPr>
            <a:cxnSpLocks/>
          </p:cNvCxnSpPr>
          <p:nvPr/>
        </p:nvCxnSpPr>
        <p:spPr>
          <a:xfrm flipH="1" flipV="1">
            <a:off x="7405217" y="4084279"/>
            <a:ext cx="335827" cy="3588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テキスト ボックス 2">
            <a:extLst>
              <a:ext uri="{FF2B5EF4-FFF2-40B4-BE49-F238E27FC236}">
                <a16:creationId xmlns:a16="http://schemas.microsoft.com/office/drawing/2014/main" id="{4B5A6E2B-2CB0-4309-937B-CE3B6E3420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5593" y="2923664"/>
            <a:ext cx="1339817" cy="32385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noAutofit/>
          </a:bodyPr>
          <a:lstStyle/>
          <a:p>
            <a:pPr marL="342900" lvl="0" indent="-342900" algn="just">
              <a:spcAft>
                <a:spcPts val="0"/>
              </a:spcAft>
              <a:buFont typeface="HG丸ｺﾞｼｯｸM-PRO" panose="020F0600000000000000" pitchFamily="50" charset="-128"/>
              <a:buChar char="□"/>
            </a:pPr>
            <a:r>
              <a:rPr lang="ja-JP" sz="1050" b="1" kern="100" dirty="0">
                <a:effectLst/>
                <a:latin typeface="Century" panose="02040604050505020304" pitchFamily="18" charset="0"/>
                <a:ea typeface="HG丸ｺﾞｼｯｸM-PRO" panose="020F0600000000000000" pitchFamily="50" charset="-128"/>
                <a:cs typeface="Times New Roman" panose="02020603050405020304" pitchFamily="18" charset="0"/>
              </a:rPr>
              <a:t>三角筋</a:t>
            </a:r>
            <a:r>
              <a:rPr lang="ja-JP" altLang="en-US" sz="1050" b="1" kern="100" dirty="0">
                <a:effectLst/>
                <a:latin typeface="Century" panose="02040604050505020304" pitchFamily="18" charset="0"/>
                <a:ea typeface="HG丸ｺﾞｼｯｸM-PRO" panose="020F0600000000000000" pitchFamily="50" charset="-128"/>
                <a:cs typeface="Times New Roman" panose="02020603050405020304" pitchFamily="18" charset="0"/>
              </a:rPr>
              <a:t>前部</a:t>
            </a:r>
            <a:endParaRPr lang="ja-JP" sz="1050" kern="100" dirty="0">
              <a:effectLst/>
              <a:latin typeface="Century" panose="02040604050505020304" pitchFamily="18" charset="0"/>
              <a:ea typeface="ＭＳ 明朝" panose="02020609040205080304" pitchFamily="17" charset="-128"/>
              <a:cs typeface="Times New Roman" panose="02020603050405020304" pitchFamily="18" charset="0"/>
            </a:endParaRPr>
          </a:p>
        </p:txBody>
      </p:sp>
      <p:sp>
        <p:nvSpPr>
          <p:cNvPr id="90" name="角丸四角形 298">
            <a:extLst>
              <a:ext uri="{FF2B5EF4-FFF2-40B4-BE49-F238E27FC236}">
                <a16:creationId xmlns:a16="http://schemas.microsoft.com/office/drawing/2014/main" id="{55C21522-7273-4238-8120-917F6924B167}"/>
              </a:ext>
            </a:extLst>
          </p:cNvPr>
          <p:cNvSpPr/>
          <p:nvPr/>
        </p:nvSpPr>
        <p:spPr>
          <a:xfrm rot="5400000" flipH="1">
            <a:off x="4270294" y="3593932"/>
            <a:ext cx="71755" cy="143510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ja-JP" altLang="en-US"/>
          </a:p>
        </p:txBody>
      </p:sp>
      <p:sp>
        <p:nvSpPr>
          <p:cNvPr id="91" name="テキスト ボックス 2">
            <a:extLst>
              <a:ext uri="{FF2B5EF4-FFF2-40B4-BE49-F238E27FC236}">
                <a16:creationId xmlns:a16="http://schemas.microsoft.com/office/drawing/2014/main" id="{D78A7262-1E16-4F33-AF5B-49FFE42BFD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13903" y="3438123"/>
            <a:ext cx="1339817" cy="32385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noAutofit/>
          </a:bodyPr>
          <a:lstStyle/>
          <a:p>
            <a:pPr marL="342900" lvl="0" indent="-342900" algn="just">
              <a:spcAft>
                <a:spcPts val="0"/>
              </a:spcAft>
              <a:buFont typeface="HG丸ｺﾞｼｯｸM-PRO" panose="020F0600000000000000" pitchFamily="50" charset="-128"/>
              <a:buChar char="□"/>
            </a:pPr>
            <a:r>
              <a:rPr lang="ja-JP" altLang="en-US" sz="1050" b="1" kern="100" dirty="0">
                <a:latin typeface="Century" panose="02040604050505020304" pitchFamily="18" charset="0"/>
                <a:ea typeface="HG丸ｺﾞｼｯｸM-PRO" panose="020F0600000000000000" pitchFamily="50" charset="-128"/>
                <a:cs typeface="Times New Roman" panose="02020603050405020304" pitchFamily="18" charset="0"/>
              </a:rPr>
              <a:t>上腕二頭筋</a:t>
            </a:r>
            <a:endParaRPr lang="ja-JP" sz="1050" kern="100" dirty="0">
              <a:effectLst/>
              <a:latin typeface="Century" panose="02040604050505020304" pitchFamily="18" charset="0"/>
              <a:ea typeface="ＭＳ 明朝" panose="02020609040205080304" pitchFamily="17" charset="-128"/>
              <a:cs typeface="Times New Roman" panose="02020603050405020304" pitchFamily="18" charset="0"/>
            </a:endParaRPr>
          </a:p>
        </p:txBody>
      </p:sp>
      <p:sp>
        <p:nvSpPr>
          <p:cNvPr id="92" name="テキスト ボックス 2">
            <a:extLst>
              <a:ext uri="{FF2B5EF4-FFF2-40B4-BE49-F238E27FC236}">
                <a16:creationId xmlns:a16="http://schemas.microsoft.com/office/drawing/2014/main" id="{47724DD0-21ED-4616-804D-216C997A9B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60254" y="4076788"/>
            <a:ext cx="1178393" cy="287655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noAutofit/>
          </a:bodyPr>
          <a:lstStyle/>
          <a:p>
            <a:pPr marL="342900" lvl="0" indent="-342900" algn="just">
              <a:spcAft>
                <a:spcPts val="0"/>
              </a:spcAft>
              <a:buFont typeface="HG丸ｺﾞｼｯｸM-PRO" panose="020F0600000000000000" pitchFamily="50" charset="-128"/>
              <a:buChar char="□"/>
            </a:pPr>
            <a:r>
              <a:rPr lang="ja-JP" altLang="en-US" sz="1050" b="1" kern="100" dirty="0">
                <a:effectLst/>
                <a:latin typeface="Century" panose="02040604050505020304" pitchFamily="18" charset="0"/>
                <a:ea typeface="HG丸ｺﾞｼｯｸM-PRO" panose="020F0600000000000000" pitchFamily="50" charset="-128"/>
                <a:cs typeface="Times New Roman" panose="02020603050405020304" pitchFamily="18" charset="0"/>
              </a:rPr>
              <a:t>腕橈骨筋</a:t>
            </a:r>
            <a:endParaRPr lang="ja-JP" sz="1050" kern="100" dirty="0">
              <a:effectLst/>
              <a:latin typeface="Century" panose="02040604050505020304" pitchFamily="18" charset="0"/>
              <a:ea typeface="ＭＳ 明朝" panose="02020609040205080304" pitchFamily="17" charset="-128"/>
              <a:cs typeface="Times New Roman" panose="02020603050405020304" pitchFamily="18" charset="0"/>
            </a:endParaRPr>
          </a:p>
        </p:txBody>
      </p:sp>
      <p:sp>
        <p:nvSpPr>
          <p:cNvPr id="93" name="テキスト ボックス 2">
            <a:extLst>
              <a:ext uri="{FF2B5EF4-FFF2-40B4-BE49-F238E27FC236}">
                <a16:creationId xmlns:a16="http://schemas.microsoft.com/office/drawing/2014/main" id="{412E16C7-3AFE-49B5-9607-3DECE83CB2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23447" y="3464917"/>
            <a:ext cx="1339817" cy="32385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noAutofit/>
          </a:bodyPr>
          <a:lstStyle/>
          <a:p>
            <a:pPr marL="342900" lvl="0" indent="-342900" algn="just">
              <a:spcAft>
                <a:spcPts val="0"/>
              </a:spcAft>
              <a:buFont typeface="HG丸ｺﾞｼｯｸM-PRO" panose="020F0600000000000000" pitchFamily="50" charset="-128"/>
              <a:buChar char="□"/>
            </a:pPr>
            <a:r>
              <a:rPr lang="ja-JP" altLang="en-US" sz="1050" b="1" kern="100" dirty="0">
                <a:effectLst/>
                <a:latin typeface="Century" panose="02040604050505020304" pitchFamily="18" charset="0"/>
                <a:ea typeface="HG丸ｺﾞｼｯｸM-PRO" panose="020F0600000000000000" pitchFamily="50" charset="-128"/>
                <a:cs typeface="Times New Roman" panose="02020603050405020304" pitchFamily="18" charset="0"/>
              </a:rPr>
              <a:t>大胸筋中部</a:t>
            </a:r>
            <a:endParaRPr lang="ja-JP" sz="1050" kern="100" dirty="0">
              <a:effectLst/>
              <a:latin typeface="Century" panose="02040604050505020304" pitchFamily="18" charset="0"/>
              <a:ea typeface="ＭＳ 明朝" panose="02020609040205080304" pitchFamily="17" charset="-128"/>
              <a:cs typeface="Times New Roman" panose="02020603050405020304" pitchFamily="18" charset="0"/>
            </a:endParaRPr>
          </a:p>
        </p:txBody>
      </p:sp>
      <p:sp>
        <p:nvSpPr>
          <p:cNvPr id="94" name="テキスト ボックス 2">
            <a:extLst>
              <a:ext uri="{FF2B5EF4-FFF2-40B4-BE49-F238E27FC236}">
                <a16:creationId xmlns:a16="http://schemas.microsoft.com/office/drawing/2014/main" id="{A7BFFA39-9532-48E1-9DD0-7F576ECD3F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67111" y="4412840"/>
            <a:ext cx="1024400" cy="32385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noAutofit/>
          </a:bodyPr>
          <a:lstStyle/>
          <a:p>
            <a:pPr marL="342900" lvl="0" indent="-342900" algn="just">
              <a:spcAft>
                <a:spcPts val="0"/>
              </a:spcAft>
              <a:buFont typeface="HG丸ｺﾞｼｯｸM-PRO" panose="020F0600000000000000" pitchFamily="50" charset="-128"/>
              <a:buChar char="□"/>
            </a:pPr>
            <a:r>
              <a:rPr lang="ja-JP" altLang="en-US" sz="1050" b="1" kern="100" dirty="0">
                <a:latin typeface="Century" panose="02040604050505020304" pitchFamily="18" charset="0"/>
                <a:ea typeface="HG丸ｺﾞｼｯｸM-PRO" panose="020F0600000000000000" pitchFamily="50" charset="-128"/>
                <a:cs typeface="Times New Roman" panose="02020603050405020304" pitchFamily="18" charset="0"/>
              </a:rPr>
              <a:t>腹直筋</a:t>
            </a:r>
            <a:endParaRPr lang="ja-JP" sz="1050" kern="100" dirty="0">
              <a:effectLst/>
              <a:latin typeface="Century" panose="02040604050505020304" pitchFamily="18" charset="0"/>
              <a:ea typeface="ＭＳ 明朝" panose="02020609040205080304" pitchFamily="17" charset="-128"/>
              <a:cs typeface="Times New Roman" panose="02020603050405020304" pitchFamily="18" charset="0"/>
            </a:endParaRPr>
          </a:p>
        </p:txBody>
      </p:sp>
      <p:cxnSp>
        <p:nvCxnSpPr>
          <p:cNvPr id="95" name="直線コネクタ 94">
            <a:extLst>
              <a:ext uri="{FF2B5EF4-FFF2-40B4-BE49-F238E27FC236}">
                <a16:creationId xmlns:a16="http://schemas.microsoft.com/office/drawing/2014/main" id="{BDD688C9-7F73-4F9B-9AA5-27E8A8244598}"/>
              </a:ext>
            </a:extLst>
          </p:cNvPr>
          <p:cNvCxnSpPr/>
          <p:nvPr/>
        </p:nvCxnSpPr>
        <p:spPr>
          <a:xfrm flipH="1">
            <a:off x="4543261" y="4612160"/>
            <a:ext cx="323850" cy="698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直線コネクタ 95">
            <a:extLst>
              <a:ext uri="{FF2B5EF4-FFF2-40B4-BE49-F238E27FC236}">
                <a16:creationId xmlns:a16="http://schemas.microsoft.com/office/drawing/2014/main" id="{7F00C09B-869F-413D-8C74-41B19765CBF5}"/>
              </a:ext>
            </a:extLst>
          </p:cNvPr>
          <p:cNvCxnSpPr/>
          <p:nvPr/>
        </p:nvCxnSpPr>
        <p:spPr>
          <a:xfrm flipH="1">
            <a:off x="4282840" y="3661798"/>
            <a:ext cx="323850" cy="698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直線コネクタ 96">
            <a:extLst>
              <a:ext uri="{FF2B5EF4-FFF2-40B4-BE49-F238E27FC236}">
                <a16:creationId xmlns:a16="http://schemas.microsoft.com/office/drawing/2014/main" id="{C948718B-38FA-4D14-B0AD-4F6342BAFD35}"/>
              </a:ext>
            </a:extLst>
          </p:cNvPr>
          <p:cNvCxnSpPr>
            <a:cxnSpLocks/>
            <a:endCxn id="91" idx="3"/>
          </p:cNvCxnSpPr>
          <p:nvPr/>
        </p:nvCxnSpPr>
        <p:spPr>
          <a:xfrm flipH="1" flipV="1">
            <a:off x="3753720" y="3600048"/>
            <a:ext cx="251954" cy="6035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直線コネクタ 98">
            <a:extLst>
              <a:ext uri="{FF2B5EF4-FFF2-40B4-BE49-F238E27FC236}">
                <a16:creationId xmlns:a16="http://schemas.microsoft.com/office/drawing/2014/main" id="{9073F40D-604F-4E76-84D0-75BC8C098DD9}"/>
              </a:ext>
            </a:extLst>
          </p:cNvPr>
          <p:cNvCxnSpPr>
            <a:cxnSpLocks/>
            <a:endCxn id="88" idx="3"/>
          </p:cNvCxnSpPr>
          <p:nvPr/>
        </p:nvCxnSpPr>
        <p:spPr>
          <a:xfrm flipH="1" flipV="1">
            <a:off x="3865410" y="3085589"/>
            <a:ext cx="200386" cy="22387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直線コネクタ 101">
            <a:extLst>
              <a:ext uri="{FF2B5EF4-FFF2-40B4-BE49-F238E27FC236}">
                <a16:creationId xmlns:a16="http://schemas.microsoft.com/office/drawing/2014/main" id="{4AA4382C-E5F9-4B54-BA57-5A997E43D139}"/>
              </a:ext>
            </a:extLst>
          </p:cNvPr>
          <p:cNvCxnSpPr>
            <a:cxnSpLocks/>
          </p:cNvCxnSpPr>
          <p:nvPr/>
        </p:nvCxnSpPr>
        <p:spPr>
          <a:xfrm flipH="1" flipV="1">
            <a:off x="3550244" y="4266261"/>
            <a:ext cx="230306" cy="11615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339046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</TotalTime>
  <Words>31</Words>
  <Application>Microsoft Office PowerPoint</Application>
  <PresentationFormat>ワイド画面</PresentationFormat>
  <Paragraphs>14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7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9" baseType="lpstr">
      <vt:lpstr>HG丸ｺﾞｼｯｸM-PRO</vt:lpstr>
      <vt:lpstr>ＭＳ 明朝</vt:lpstr>
      <vt:lpstr>游ゴシック</vt:lpstr>
      <vt:lpstr>游ゴシック Light</vt:lpstr>
      <vt:lpstr>Arial</vt:lpstr>
      <vt:lpstr>Century</vt:lpstr>
      <vt:lpstr>Times New Roman</vt:lpstr>
      <vt:lpstr>Office テーマ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y-fujii</dc:creator>
  <cp:lastModifiedBy>y-fujii</cp:lastModifiedBy>
  <cp:revision>10</cp:revision>
  <dcterms:created xsi:type="dcterms:W3CDTF">2025-03-25T03:06:11Z</dcterms:created>
  <dcterms:modified xsi:type="dcterms:W3CDTF">2025-03-27T03:21:02Z</dcterms:modified>
</cp:coreProperties>
</file>